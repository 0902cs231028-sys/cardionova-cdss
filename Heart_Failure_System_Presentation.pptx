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 (%)</c:v>
                </c:pt>
              </c:strCache>
            </c:strRef>
          </c:tx>
          <c:spPr>
            <a:solidFill>
              <a:srgbClr val="1122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A162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1224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24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7E8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356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A7DB5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Accuracy</c:v>
                  </c:pt>
                  <c:pt idx="1">
                    <c:v>Recall</c:v>
                  </c:pt>
                  <c:pt idx="2">
                    <c:v>Precision</c:v>
                  </c:pt>
                  <c:pt idx="3">
                    <c:v>F1-Score</c:v>
                  </c:pt>
                  <c:pt idx="4">
                    <c:v>AUC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87.3</c:v>
                </c:pt>
                <c:pt idx="1">
                  <c:v>95.35</c:v>
                </c:pt>
                <c:pt idx="2">
                  <c:v>86.1</c:v>
                </c:pt>
                <c:pt idx="3">
                  <c:v>90.5</c:v>
                </c:pt>
                <c:pt idx="4">
                  <c:v>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A162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7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731520"/>
            <a:ext cx="3840480" cy="3840480"/>
          </a:xfrm>
          <a:prstGeom prst="oval">
            <a:avLst/>
          </a:prstGeom>
          <a:solidFill>
            <a:srgbClr val="1A356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766560" y="-274320"/>
            <a:ext cx="2743200" cy="2743200"/>
          </a:xfrm>
          <a:prstGeom prst="oval">
            <a:avLst/>
          </a:prstGeom>
          <a:solidFill>
            <a:srgbClr val="0D7E8A">
              <a:alpha val="3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22860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657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Rustamji Institute of Technology, BSF Academy, Gwalior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9601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Heart Failure Detection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457200" y="16916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2A8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Management System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457200" y="2606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·  Explainable AI  ·  Clinical Rule Engine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324612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1A3560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291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35844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Project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83280" y="324612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1A3560"/>
          </a:solidFill>
          <a:ln/>
        </p:spPr>
      </p:sp>
      <p:sp>
        <p:nvSpPr>
          <p:cNvPr id="13" name="Text 10"/>
          <p:cNvSpPr/>
          <p:nvPr/>
        </p:nvSpPr>
        <p:spPr>
          <a:xfrm>
            <a:off x="3474720" y="3291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Morbar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474720" y="35844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0902IT221017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309360" y="324612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1A3560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0" y="3291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J. S. Pahariya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0" y="35844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– Jun 2026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Technology  ·  RJIT, BSF Academy, Gwalior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0D7E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Clinical Gap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06040" cy="1645920"/>
          </a:xfrm>
          <a:prstGeom prst="roundRect">
            <a:avLst>
              <a:gd name="adj" fmla="val 6667"/>
            </a:avLst>
          </a:prstGeom>
          <a:solidFill>
            <a:srgbClr val="C0243C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08483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64M+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48640" y="26700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affected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globally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1463040"/>
            <a:ext cx="2606040" cy="1645920"/>
          </a:xfrm>
          <a:prstGeom prst="roundRect">
            <a:avLst>
              <a:gd name="adj" fmla="val 6667"/>
            </a:avLst>
          </a:prstGeom>
          <a:solidFill>
            <a:srgbClr val="112244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60020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83280" y="208483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3600" dirty="0"/>
          </a:p>
        </p:txBody>
      </p:sp>
      <p:sp>
        <p:nvSpPr>
          <p:cNvPr id="12" name="Text 8"/>
          <p:cNvSpPr/>
          <p:nvPr/>
        </p:nvSpPr>
        <p:spPr>
          <a:xfrm>
            <a:off x="3383280" y="26700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undiagnosed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critical event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26480" y="1463040"/>
            <a:ext cx="2606040" cy="1645920"/>
          </a:xfrm>
          <a:prstGeom prst="roundRect">
            <a:avLst>
              <a:gd name="adj" fmla="val 6667"/>
            </a:avLst>
          </a:prstGeom>
          <a:solidFill>
            <a:srgbClr val="0D7E8A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0020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17920" y="208483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&gt;85%</a:t>
            </a:r>
            <a:endParaRPr lang="en-US" sz="3600" dirty="0"/>
          </a:p>
        </p:txBody>
      </p:sp>
      <p:sp>
        <p:nvSpPr>
          <p:cNvPr id="16" name="Text 11"/>
          <p:cNvSpPr/>
          <p:nvPr/>
        </p:nvSpPr>
        <p:spPr>
          <a:xfrm>
            <a:off x="6217920" y="267004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achievable with ML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57200" y="3429000"/>
            <a:ext cx="256032" cy="256032"/>
          </a:xfrm>
          <a:prstGeom prst="oval">
            <a:avLst/>
          </a:prstGeom>
          <a:solidFill>
            <a:srgbClr val="C0243C"/>
          </a:solidFill>
          <a:ln/>
        </p:spPr>
      </p:sp>
      <p:sp>
        <p:nvSpPr>
          <p:cNvPr id="18" name="Text 13"/>
          <p:cNvSpPr/>
          <p:nvPr/>
        </p:nvSpPr>
        <p:spPr>
          <a:xfrm>
            <a:off x="822960" y="340156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diagnosis relies on specialist access — unavailable in rural/resource-limited settings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57200" y="3831336"/>
            <a:ext cx="256032" cy="256032"/>
          </a:xfrm>
          <a:prstGeom prst="oval">
            <a:avLst/>
          </a:prstGeom>
          <a:solidFill>
            <a:srgbClr val="C0243C"/>
          </a:solidFill>
          <a:ln/>
        </p:spPr>
      </p:sp>
      <p:sp>
        <p:nvSpPr>
          <p:cNvPr id="20" name="Text 15"/>
          <p:cNvSpPr/>
          <p:nvPr/>
        </p:nvSpPr>
        <p:spPr>
          <a:xfrm>
            <a:off x="822960" y="380390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risk scoring is subjective, time-consuming, and inconsistent across clinicians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57200" y="4233672"/>
            <a:ext cx="256032" cy="256032"/>
          </a:xfrm>
          <a:prstGeom prst="oval">
            <a:avLst/>
          </a:prstGeom>
          <a:solidFill>
            <a:srgbClr val="C0243C"/>
          </a:solidFill>
          <a:ln/>
        </p:spPr>
      </p:sp>
      <p:sp>
        <p:nvSpPr>
          <p:cNvPr id="22" name="Text 17"/>
          <p:cNvSpPr/>
          <p:nvPr/>
        </p:nvSpPr>
        <p:spPr>
          <a:xfrm>
            <a:off x="822960" y="420624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real-time, automated management plan generation after a high-risk flag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Failure Detection &amp; Management System  |  RJIT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22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0D7E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System Does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4069080" cy="960120"/>
          </a:xfrm>
          <a:prstGeom prst="roundRect">
            <a:avLst>
              <a:gd name="adj" fmla="val 9524"/>
            </a:avLst>
          </a:prstGeom>
          <a:solidFill>
            <a:srgbClr val="1A3560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70992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15727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15568" y="186537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CAD mortality risk from 50+ clinical features using CatBoost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00600" y="1481328"/>
            <a:ext cx="4069080" cy="960120"/>
          </a:xfrm>
          <a:prstGeom prst="roundRect">
            <a:avLst>
              <a:gd name="adj" fmla="val 9524"/>
            </a:avLst>
          </a:prstGeom>
          <a:solidFill>
            <a:srgbClr val="1A3560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1709928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58968" y="15727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Stratify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458968" y="186537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patients: Low / Medium / High risk for targeted clinical action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2578608"/>
            <a:ext cx="4069080" cy="960120"/>
          </a:xfrm>
          <a:prstGeom prst="roundRect">
            <a:avLst>
              <a:gd name="adj" fmla="val 9524"/>
            </a:avLst>
          </a:prstGeom>
          <a:solidFill>
            <a:srgbClr val="1A3560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807208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15568" y="2670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115568" y="296265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values justify every prediction — per patient &amp; globally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800600" y="2578608"/>
            <a:ext cx="4069080" cy="960120"/>
          </a:xfrm>
          <a:prstGeom prst="roundRect">
            <a:avLst>
              <a:gd name="adj" fmla="val 9524"/>
            </a:avLst>
          </a:prstGeom>
          <a:solidFill>
            <a:srgbClr val="1A3560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92" y="2807208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58968" y="2670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458968" y="296265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generates automated, cardiology-grade care plans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57200" y="3675888"/>
            <a:ext cx="4069080" cy="960120"/>
          </a:xfrm>
          <a:prstGeom prst="roundRect">
            <a:avLst>
              <a:gd name="adj" fmla="val 9524"/>
            </a:avLst>
          </a:prstGeom>
          <a:solidFill>
            <a:srgbClr val="1A3560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904488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15568" y="37673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1115568" y="405993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Streamlit web UI: real-time input, batch CSV, risk dashboard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800600" y="3675888"/>
            <a:ext cx="4069080" cy="960120"/>
          </a:xfrm>
          <a:prstGeom prst="roundRect">
            <a:avLst>
              <a:gd name="adj" fmla="val 9524"/>
            </a:avLst>
          </a:prstGeom>
          <a:solidFill>
            <a:srgbClr val="1A3560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65192" y="3904488"/>
            <a:ext cx="384048" cy="38404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458968" y="37673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5458968" y="405993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prediction log — patient history, export, longitudinal tracking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Failure Detection &amp; Management System  |  RJIT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0D7E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Preprocessing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EEF4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600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Z-Alizadeh Sani CAD Dataset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21488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874520" y="214884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303 patients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27432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874520" y="27432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clinical features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33375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874520" y="3337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Cath: CAD vs Normal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40080" y="39319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features: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874520" y="39319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EF-TTE, Ejection Fraction,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NYHA Class, Edema,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Lung Rales, Creatinine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663440" y="146304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719072"/>
            <a:ext cx="384048" cy="38404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349240" y="1554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Encoding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349240" y="18470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Y/N → 1/0; VHD severity → 0–3 ordinal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663440" y="260604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862072"/>
            <a:ext cx="384048" cy="38404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349240" y="2697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Imputation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5349240" y="29900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 imputer on 21 numeric features — production-safe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663440" y="374904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4005072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49240" y="3840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SMOTENC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349240" y="41330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minority oversampling on training set only; preserves categorical features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Failure Detection &amp; Management System  |  RJIT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22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0D7E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CatBoost + Optuna Optimization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640080"/>
          </a:xfrm>
          <a:prstGeom prst="roundRect">
            <a:avLst>
              <a:gd name="adj" fmla="val 11429"/>
            </a:avLst>
          </a:prstGeom>
          <a:solidFill>
            <a:srgbClr val="0D7E8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4475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CatBoost?  Native categorical support + gradient boosting on clinical tabular data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Hyperparameter Space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3931920" cy="347472"/>
          </a:xfrm>
          <a:prstGeom prst="roundRect">
            <a:avLst>
              <a:gd name="adj" fmla="val 15789"/>
            </a:avLst>
          </a:prstGeom>
          <a:solidFill>
            <a:srgbClr val="1A3560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633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286000" y="26334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– 500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026664"/>
            <a:ext cx="3931920" cy="347472"/>
          </a:xfrm>
          <a:prstGeom prst="roundRect">
            <a:avLst>
              <a:gd name="adj" fmla="val 15789"/>
            </a:avLst>
          </a:prstGeom>
          <a:solidFill>
            <a:srgbClr val="1A3560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0540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286000" y="30540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 – 0.2  (log scale)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447288"/>
            <a:ext cx="3931920" cy="347472"/>
          </a:xfrm>
          <a:prstGeom prst="roundRect">
            <a:avLst>
              <a:gd name="adj" fmla="val 15789"/>
            </a:avLst>
          </a:prstGeom>
          <a:solidFill>
            <a:srgbClr val="1A3560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474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286000" y="3474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– 8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867912"/>
            <a:ext cx="3931920" cy="347472"/>
          </a:xfrm>
          <a:prstGeom prst="roundRect">
            <a:avLst>
              <a:gd name="adj" fmla="val 15789"/>
            </a:avLst>
          </a:prstGeom>
          <a:solidFill>
            <a:srgbClr val="1A3560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8953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l2_leaf_reg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86000" y="38953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 – 10  (log scale)</a:t>
            </a:r>
            <a:endParaRPr lang="en-US" sz="12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581912"/>
            <a:ext cx="320040" cy="3200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212080" y="152704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target: maximize Recall (minimize missed sick patients)</a:t>
            </a:r>
            <a:endParaRPr lang="en-US" sz="12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240280"/>
            <a:ext cx="320040" cy="32004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212080" y="218541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Optuna trials — can be scaled to 50 for production</a:t>
            </a:r>
            <a:endParaRPr lang="en-US" sz="12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898648"/>
            <a:ext cx="320040" cy="32004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212080" y="284378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stopping: 20 rounds on internal validation split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4663440" y="3429000"/>
            <a:ext cx="4023360" cy="1188720"/>
          </a:xfrm>
          <a:prstGeom prst="roundRect">
            <a:avLst>
              <a:gd name="adj" fmla="val 9231"/>
            </a:avLst>
          </a:prstGeom>
          <a:solidFill>
            <a:srgbClr val="C0243C"/>
          </a:solidFill>
          <a:ln/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4754880" y="3493008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95.35%</a:t>
            </a:r>
            <a:endParaRPr lang="en-US" sz="4800" dirty="0"/>
          </a:p>
        </p:txBody>
      </p:sp>
      <p:sp>
        <p:nvSpPr>
          <p:cNvPr id="28" name="Text 23"/>
          <p:cNvSpPr/>
          <p:nvPr/>
        </p:nvSpPr>
        <p:spPr>
          <a:xfrm>
            <a:off x="4754880" y="41148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on Test Data  (minimize false negatives)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Failure Detection &amp; Management System  |  RJIT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0D7E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11224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572768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87.3%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11480" y="2304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5877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baseline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46304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C0243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1572768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95.35%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514600" y="2304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14600" y="25877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optimization goal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146304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0D7E8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17720" y="1572768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86.1%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617720" y="2304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17720" y="25877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false positive rate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675120" y="1463040"/>
            <a:ext cx="1920240" cy="1417320"/>
          </a:xfrm>
          <a:prstGeom prst="roundRect">
            <a:avLst>
              <a:gd name="adj" fmla="val 7742"/>
            </a:avLst>
          </a:prstGeom>
          <a:solidFill>
            <a:srgbClr val="1A35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20840" y="1572768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90.5%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720840" y="2304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20840" y="25877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balance</a:t>
            </a:r>
            <a:endParaRPr lang="en-US" sz="9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365760" y="3017520"/>
          <a:ext cx="841248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Failure Detection &amp; Management System  |  RJIT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22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0D7E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AI with SHAP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160520" cy="3520440"/>
          </a:xfrm>
          <a:prstGeom prst="roundRect">
            <a:avLst>
              <a:gd name="adj" fmla="val 3117"/>
            </a:avLst>
          </a:prstGeom>
          <a:solidFill>
            <a:srgbClr val="1A3560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72768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15727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Drivers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78992" y="186537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Beeswarm Plot — across all patients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66928" y="2331720"/>
            <a:ext cx="146304" cy="146304"/>
          </a:xfrm>
          <a:prstGeom prst="oval">
            <a:avLst/>
          </a:prstGeom>
          <a:solidFill>
            <a:srgbClr val="0D7E8A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2286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EF-TTE (Ejection Fraction) — #1 driver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66928" y="2770632"/>
            <a:ext cx="146304" cy="146304"/>
          </a:xfrm>
          <a:prstGeom prst="oval">
            <a:avLst/>
          </a:prstGeom>
          <a:solidFill>
            <a:srgbClr val="0D7E8A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7249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Serum Creatinine — kidney-heart link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66928" y="3209544"/>
            <a:ext cx="146304" cy="146304"/>
          </a:xfrm>
          <a:prstGeom prst="oval">
            <a:avLst/>
          </a:prstGeom>
          <a:solidFill>
            <a:srgbClr val="0D7E8A"/>
          </a:solidFill>
          <a:ln/>
        </p:spPr>
      </p:sp>
      <p:sp>
        <p:nvSpPr>
          <p:cNvPr id="14" name="Text 11"/>
          <p:cNvSpPr/>
          <p:nvPr/>
        </p:nvSpPr>
        <p:spPr>
          <a:xfrm>
            <a:off x="804672" y="316382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— compounding risk factor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66928" y="3648456"/>
            <a:ext cx="146304" cy="146304"/>
          </a:xfrm>
          <a:prstGeom prst="oval">
            <a:avLst/>
          </a:prstGeom>
          <a:solidFill>
            <a:srgbClr val="0D7E8A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60273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Serum Sodium — congestion marker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66928" y="4087368"/>
            <a:ext cx="146304" cy="146304"/>
          </a:xfrm>
          <a:prstGeom prst="oval">
            <a:avLst/>
          </a:prstGeom>
          <a:solidFill>
            <a:srgbClr val="0D7E8A"/>
          </a:solidFill>
          <a:ln/>
        </p:spPr>
      </p:sp>
      <p:sp>
        <p:nvSpPr>
          <p:cNvPr id="18" name="Text 15"/>
          <p:cNvSpPr/>
          <p:nvPr/>
        </p:nvSpPr>
        <p:spPr>
          <a:xfrm>
            <a:off x="804672" y="404164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Edema — direct HF symptom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54880" y="1417320"/>
            <a:ext cx="4160520" cy="3520440"/>
          </a:xfrm>
          <a:prstGeom prst="roundRect">
            <a:avLst>
              <a:gd name="adj" fmla="val 3117"/>
            </a:avLst>
          </a:prstGeom>
          <a:solidFill>
            <a:srgbClr val="162A4A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72768"/>
            <a:ext cx="411480" cy="4114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468112" y="157276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Per-Patient Breakdown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5468112" y="186537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Plot — individual risk score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956048" y="2331720"/>
            <a:ext cx="146304" cy="146304"/>
          </a:xfrm>
          <a:prstGeom prst="oval">
            <a:avLst/>
          </a:prstGeom>
          <a:solidFill>
            <a:srgbClr val="0D7E8A"/>
          </a:solidFill>
          <a:ln/>
        </p:spPr>
      </p:sp>
      <p:sp>
        <p:nvSpPr>
          <p:cNvPr id="24" name="Text 20"/>
          <p:cNvSpPr/>
          <p:nvPr/>
        </p:nvSpPr>
        <p:spPr>
          <a:xfrm>
            <a:off x="5193792" y="2286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bar = one feature's push toward/away from CAD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956048" y="2770632"/>
            <a:ext cx="146304" cy="146304"/>
          </a:xfrm>
          <a:prstGeom prst="oval">
            <a:avLst/>
          </a:prstGeom>
          <a:solidFill>
            <a:srgbClr val="0D7E8A"/>
          </a:solidFill>
          <a:ln/>
        </p:spPr>
      </p:sp>
      <p:sp>
        <p:nvSpPr>
          <p:cNvPr id="26" name="Text 22"/>
          <p:cNvSpPr/>
          <p:nvPr/>
        </p:nvSpPr>
        <p:spPr>
          <a:xfrm>
            <a:off x="5193792" y="27249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E[f(X)] = model baseline (population average)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956048" y="3209544"/>
            <a:ext cx="146304" cy="146304"/>
          </a:xfrm>
          <a:prstGeom prst="oval">
            <a:avLst/>
          </a:prstGeom>
          <a:solidFill>
            <a:srgbClr val="0D7E8A"/>
          </a:solidFill>
          <a:ln/>
        </p:spPr>
      </p:sp>
      <p:sp>
        <p:nvSpPr>
          <p:cNvPr id="28" name="Text 24"/>
          <p:cNvSpPr/>
          <p:nvPr/>
        </p:nvSpPr>
        <p:spPr>
          <a:xfrm>
            <a:off x="5193792" y="316382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bars: push risk up   |   Blue: push down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4956048" y="3648456"/>
            <a:ext cx="146304" cy="146304"/>
          </a:xfrm>
          <a:prstGeom prst="oval">
            <a:avLst/>
          </a:prstGeom>
          <a:solidFill>
            <a:srgbClr val="0D7E8A"/>
          </a:solidFill>
          <a:ln/>
        </p:spPr>
      </p:sp>
      <p:sp>
        <p:nvSpPr>
          <p:cNvPr id="30" name="Text 26"/>
          <p:cNvSpPr/>
          <p:nvPr/>
        </p:nvSpPr>
        <p:spPr>
          <a:xfrm>
            <a:off x="5193792" y="360273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 sees exactly why the alert fired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4956048" y="4087368"/>
            <a:ext cx="146304" cy="146304"/>
          </a:xfrm>
          <a:prstGeom prst="oval">
            <a:avLst/>
          </a:prstGeom>
          <a:solidFill>
            <a:srgbClr val="0D7E8A"/>
          </a:solidFill>
          <a:ln/>
        </p:spPr>
      </p:sp>
      <p:sp>
        <p:nvSpPr>
          <p:cNvPr id="32" name="Text 28"/>
          <p:cNvSpPr/>
          <p:nvPr/>
        </p:nvSpPr>
        <p:spPr>
          <a:xfrm>
            <a:off x="5193792" y="404164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trust — not a black box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Failure Detection &amp; Management System  |  RJIT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0D7E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Clinical Care Plan Engine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783080" cy="822960"/>
          </a:xfrm>
          <a:prstGeom prst="roundRect">
            <a:avLst>
              <a:gd name="adj" fmla="val 8889"/>
            </a:avLst>
          </a:prstGeom>
          <a:solidFill>
            <a:srgbClr val="0D7E8A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89888"/>
            <a:ext cx="1783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Risk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94560" y="1783080"/>
            <a:ext cx="457200" cy="0"/>
          </a:xfrm>
          <a:prstGeom prst="LINE">
            <a:avLst/>
          </a:prstGeom>
          <a:noFill/>
          <a:ln w="25400">
            <a:solidFill>
              <a:srgbClr val="AAAA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331720" y="1371600"/>
            <a:ext cx="1783080" cy="822960"/>
          </a:xfrm>
          <a:prstGeom prst="roundRect">
            <a:avLst>
              <a:gd name="adj" fmla="val 8889"/>
            </a:avLst>
          </a:prstGeom>
          <a:solidFill>
            <a:srgbClr val="C0243C"/>
          </a:solidFill>
          <a:ln/>
        </p:spPr>
      </p:sp>
      <p:sp>
        <p:nvSpPr>
          <p:cNvPr id="9" name="Text 7"/>
          <p:cNvSpPr/>
          <p:nvPr/>
        </p:nvSpPr>
        <p:spPr>
          <a:xfrm>
            <a:off x="2331720" y="1389888"/>
            <a:ext cx="1783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60%?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60520" y="1783080"/>
            <a:ext cx="457200" cy="0"/>
          </a:xfrm>
          <a:prstGeom prst="LINE">
            <a:avLst/>
          </a:prstGeom>
          <a:noFill/>
          <a:ln w="25400">
            <a:solidFill>
              <a:srgbClr val="AAAAA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371600"/>
            <a:ext cx="1783080" cy="822960"/>
          </a:xfrm>
          <a:prstGeom prst="roundRect">
            <a:avLst>
              <a:gd name="adj" fmla="val 8889"/>
            </a:avLst>
          </a:prstGeom>
          <a:solidFill>
            <a:srgbClr val="112244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1389888"/>
            <a:ext cx="1783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EF-TTE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783080"/>
            <a:ext cx="457200" cy="0"/>
          </a:xfrm>
          <a:prstGeom prst="LINE">
            <a:avLst/>
          </a:prstGeom>
          <a:noFill/>
          <a:ln w="25400">
            <a:solidFill>
              <a:srgbClr val="AAAA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1371600"/>
            <a:ext cx="1783080" cy="822960"/>
          </a:xfrm>
          <a:prstGeom prst="roundRect">
            <a:avLst>
              <a:gd name="adj" fmla="val 8889"/>
            </a:avLst>
          </a:prstGeom>
          <a:solidFill>
            <a:srgbClr val="1A3560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389888"/>
            <a:ext cx="1783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NYHA Check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92440" y="1783080"/>
            <a:ext cx="457200" cy="0"/>
          </a:xfrm>
          <a:prstGeom prst="LINE">
            <a:avLst/>
          </a:prstGeom>
          <a:noFill/>
          <a:ln w="25400">
            <a:solidFill>
              <a:srgbClr val="AAAA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1371600"/>
            <a:ext cx="548640" cy="822960"/>
          </a:xfrm>
          <a:prstGeom prst="roundRect">
            <a:avLst>
              <a:gd name="adj" fmla="val 13333"/>
            </a:avLst>
          </a:prstGeom>
          <a:solidFill>
            <a:srgbClr val="12A89C"/>
          </a:solidFill>
          <a:ln/>
        </p:spPr>
      </p:sp>
      <p:sp>
        <p:nvSpPr>
          <p:cNvPr id="18" name="Text 16"/>
          <p:cNvSpPr/>
          <p:nvPr/>
        </p:nvSpPr>
        <p:spPr>
          <a:xfrm>
            <a:off x="8183880" y="1389888"/>
            <a:ext cx="548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65760" y="2423160"/>
            <a:ext cx="2743200" cy="2423160"/>
          </a:xfrm>
          <a:prstGeom prst="roundRect">
            <a:avLst>
              <a:gd name="adj" fmla="val 4528"/>
            </a:avLst>
          </a:prstGeom>
          <a:solidFill>
            <a:srgbClr val="C0243C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2542032"/>
            <a:ext cx="365760" cy="3657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005840" y="25420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Staging (EF-TTE)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3063240"/>
            <a:ext cx="128016" cy="128016"/>
          </a:xfrm>
          <a:prstGeom prst="oval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749808" y="30175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&lt; 40% → HFrEF → GDMT: Beta-blockers + ARNI/ACEi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48640" y="3566160"/>
            <a:ext cx="128016" cy="128016"/>
          </a:xfrm>
          <a:prstGeom prst="oval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749808" y="35204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40-50% → HFmrEF → SGLT2 inhibitor + monitoring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48640" y="4069080"/>
            <a:ext cx="128016" cy="128016"/>
          </a:xfrm>
          <a:prstGeom prst="oval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749808" y="402336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&gt; 50% → HFpEF → Treat comorbidities (HTN, DM)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291840" y="2423160"/>
            <a:ext cx="2743200" cy="2423160"/>
          </a:xfrm>
          <a:prstGeom prst="roundRect">
            <a:avLst>
              <a:gd name="adj" fmla="val 4528"/>
            </a:avLst>
          </a:prstGeom>
          <a:solidFill>
            <a:srgbClr val="0D7E8A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432" y="2542032"/>
            <a:ext cx="365760" cy="36576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3931920" y="25420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&amp; Congestion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3474720" y="3063240"/>
            <a:ext cx="128016" cy="128016"/>
          </a:xfrm>
          <a:prstGeom prst="oval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32" name="Text 28"/>
          <p:cNvSpPr/>
          <p:nvPr/>
        </p:nvSpPr>
        <p:spPr>
          <a:xfrm>
            <a:off x="3675888" y="30175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Edema or Lung rales detected → Loop Diuretic titration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3474720" y="3566160"/>
            <a:ext cx="128016" cy="128016"/>
          </a:xfrm>
          <a:prstGeom prst="oval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34" name="Text 30"/>
          <p:cNvSpPr/>
          <p:nvPr/>
        </p:nvSpPr>
        <p:spPr>
          <a:xfrm>
            <a:off x="3675888" y="35204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overload flag → Urgent intervention prioritized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3474720" y="4069080"/>
            <a:ext cx="128016" cy="128016"/>
          </a:xfrm>
          <a:prstGeom prst="oval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36" name="Text 32"/>
          <p:cNvSpPr/>
          <p:nvPr/>
        </p:nvSpPr>
        <p:spPr>
          <a:xfrm>
            <a:off x="3675888" y="402336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weight tracking → daily telehealth log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6217920" y="2423160"/>
            <a:ext cx="2743200" cy="2423160"/>
          </a:xfrm>
          <a:prstGeom prst="roundRect">
            <a:avLst>
              <a:gd name="adj" fmla="val 4528"/>
            </a:avLst>
          </a:prstGeom>
          <a:solidFill>
            <a:srgbClr val="112244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2542032"/>
            <a:ext cx="365760" cy="36576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6858000" y="25420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Comorbidity Actions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6400800" y="3063240"/>
            <a:ext cx="128016" cy="128016"/>
          </a:xfrm>
          <a:prstGeom prst="oval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41" name="Text 36"/>
          <p:cNvSpPr/>
          <p:nvPr/>
        </p:nvSpPr>
        <p:spPr>
          <a:xfrm>
            <a:off x="6601968" y="30175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→ SGLT2 inhibitor (cardioprotective + glucose control)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6400800" y="3566160"/>
            <a:ext cx="128016" cy="128016"/>
          </a:xfrm>
          <a:prstGeom prst="oval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43" name="Text 38"/>
          <p:cNvSpPr/>
          <p:nvPr/>
        </p:nvSpPr>
        <p:spPr>
          <a:xfrm>
            <a:off x="6601968" y="352044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HTN → Target BP &lt; 130/80 mmHg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6400800" y="4069080"/>
            <a:ext cx="128016" cy="128016"/>
          </a:xfrm>
          <a:prstGeom prst="oval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45" name="Text 40"/>
          <p:cNvSpPr/>
          <p:nvPr/>
        </p:nvSpPr>
        <p:spPr>
          <a:xfrm>
            <a:off x="6601968" y="402336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Smoker → NRT / Varenicline cessation referral</a:t>
            </a:r>
            <a:endParaRPr lang="en-US" sz="1000" dirty="0"/>
          </a:p>
        </p:txBody>
      </p:sp>
      <p:sp>
        <p:nvSpPr>
          <p:cNvPr id="46" name="Text 41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7" name="Text 42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Failure Detection &amp; Management System  |  RJIT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22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0D7E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&amp; Tech Stack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4937760" cy="566928"/>
          </a:xfrm>
          <a:prstGeom prst="roundRect">
            <a:avLst>
              <a:gd name="adj" fmla="val 11290"/>
            </a:avLst>
          </a:prstGeom>
          <a:solidFill>
            <a:srgbClr val="12A89C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44475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65960" y="144475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 — Patient Form / Risk Dashboard / Batch CSV / History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084832"/>
            <a:ext cx="4937760" cy="566928"/>
          </a:xfrm>
          <a:prstGeom prst="roundRect">
            <a:avLst>
              <a:gd name="adj" fmla="val 11290"/>
            </a:avLst>
          </a:prstGeom>
          <a:solidFill>
            <a:srgbClr val="0D7E8A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11226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Layer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65960" y="211226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predict.py — Model Load, KNN Impute, CatBoost Predict, Risk Label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752344"/>
            <a:ext cx="4937760" cy="566928"/>
          </a:xfrm>
          <a:prstGeom prst="roundRect">
            <a:avLst>
              <a:gd name="adj" fmla="val 11290"/>
            </a:avLst>
          </a:prstGeom>
          <a:solidFill>
            <a:srgbClr val="112244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77977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Layer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65960" y="277977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Plan Engine — EF Staging, Fluid Check, NYHA, Comorbidities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419856"/>
            <a:ext cx="4937760" cy="566928"/>
          </a:xfrm>
          <a:prstGeom prst="roundRect">
            <a:avLst>
              <a:gd name="adj" fmla="val 11290"/>
            </a:avLst>
          </a:prstGeom>
          <a:solidFill>
            <a:srgbClr val="1A3560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44728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65960" y="344728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 — Prediction log, Audit trail, CSV export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4087368"/>
            <a:ext cx="4937760" cy="566928"/>
          </a:xfrm>
          <a:prstGeom prst="roundRect">
            <a:avLst>
              <a:gd name="adj" fmla="val 11290"/>
            </a:avLst>
          </a:prstGeom>
          <a:solidFill>
            <a:srgbClr val="E84560"/>
          </a:solidFill>
          <a:ln/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41148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Layer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65960" y="4114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train.py — SMOTENC → Optuna → CatBoost → Serialize model.pkl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77840" y="1417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577840" y="1874520"/>
            <a:ext cx="1600200" cy="438912"/>
          </a:xfrm>
          <a:prstGeom prst="roundRect">
            <a:avLst>
              <a:gd name="adj" fmla="val 16667"/>
            </a:avLst>
          </a:prstGeom>
          <a:solidFill>
            <a:srgbClr val="C0243C"/>
          </a:solidFill>
          <a:ln/>
        </p:spPr>
      </p:sp>
      <p:sp>
        <p:nvSpPr>
          <p:cNvPr id="22" name="Text 20"/>
          <p:cNvSpPr/>
          <p:nvPr/>
        </p:nvSpPr>
        <p:spPr>
          <a:xfrm>
            <a:off x="5577840" y="187452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CatBoost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96912" y="1874520"/>
            <a:ext cx="1600200" cy="438912"/>
          </a:xfrm>
          <a:prstGeom prst="roundRect">
            <a:avLst>
              <a:gd name="adj" fmla="val 16667"/>
            </a:avLst>
          </a:prstGeom>
          <a:solidFill>
            <a:srgbClr val="0D7E8A"/>
          </a:solidFill>
          <a:ln/>
        </p:spPr>
      </p:sp>
      <p:sp>
        <p:nvSpPr>
          <p:cNvPr id="24" name="Text 22"/>
          <p:cNvSpPr/>
          <p:nvPr/>
        </p:nvSpPr>
        <p:spPr>
          <a:xfrm>
            <a:off x="7296912" y="1874520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577840" y="2441448"/>
            <a:ext cx="1600200" cy="438912"/>
          </a:xfrm>
          <a:prstGeom prst="roundRect">
            <a:avLst>
              <a:gd name="adj" fmla="val 16667"/>
            </a:avLst>
          </a:prstGeom>
          <a:solidFill>
            <a:srgbClr val="1A3560"/>
          </a:solidFill>
          <a:ln/>
        </p:spPr>
      </p:sp>
      <p:sp>
        <p:nvSpPr>
          <p:cNvPr id="26" name="Text 24"/>
          <p:cNvSpPr/>
          <p:nvPr/>
        </p:nvSpPr>
        <p:spPr>
          <a:xfrm>
            <a:off x="5577840" y="244144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296912" y="2441448"/>
            <a:ext cx="1600200" cy="438912"/>
          </a:xfrm>
          <a:prstGeom prst="roundRect">
            <a:avLst>
              <a:gd name="adj" fmla="val 16667"/>
            </a:avLst>
          </a:prstGeom>
          <a:solidFill>
            <a:srgbClr val="0D7E8A"/>
          </a:solidFill>
          <a:ln/>
        </p:spPr>
      </p:sp>
      <p:sp>
        <p:nvSpPr>
          <p:cNvPr id="28" name="Text 26"/>
          <p:cNvSpPr/>
          <p:nvPr/>
        </p:nvSpPr>
        <p:spPr>
          <a:xfrm>
            <a:off x="7296912" y="2441448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577840" y="3008376"/>
            <a:ext cx="1600200" cy="438912"/>
          </a:xfrm>
          <a:prstGeom prst="roundRect">
            <a:avLst>
              <a:gd name="adj" fmla="val 16667"/>
            </a:avLst>
          </a:prstGeom>
          <a:solidFill>
            <a:srgbClr val="112244"/>
          </a:solidFill>
          <a:ln/>
        </p:spPr>
      </p:sp>
      <p:sp>
        <p:nvSpPr>
          <p:cNvPr id="30" name="Text 28"/>
          <p:cNvSpPr/>
          <p:nvPr/>
        </p:nvSpPr>
        <p:spPr>
          <a:xfrm>
            <a:off x="5577840" y="3008376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SMOTENC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296912" y="3008376"/>
            <a:ext cx="1600200" cy="438912"/>
          </a:xfrm>
          <a:prstGeom prst="roundRect">
            <a:avLst>
              <a:gd name="adj" fmla="val 16667"/>
            </a:avLst>
          </a:prstGeom>
          <a:solidFill>
            <a:srgbClr val="1A3560"/>
          </a:solidFill>
          <a:ln/>
        </p:spPr>
      </p:sp>
      <p:sp>
        <p:nvSpPr>
          <p:cNvPr id="32" name="Text 30"/>
          <p:cNvSpPr/>
          <p:nvPr/>
        </p:nvSpPr>
        <p:spPr>
          <a:xfrm>
            <a:off x="7296912" y="3008376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Imputer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577840" y="3575304"/>
            <a:ext cx="1600200" cy="438912"/>
          </a:xfrm>
          <a:prstGeom prst="roundRect">
            <a:avLst>
              <a:gd name="adj" fmla="val 16667"/>
            </a:avLst>
          </a:prstGeom>
          <a:solidFill>
            <a:srgbClr val="E84560"/>
          </a:solidFill>
          <a:ln/>
        </p:spPr>
      </p:sp>
      <p:sp>
        <p:nvSpPr>
          <p:cNvPr id="34" name="Text 32"/>
          <p:cNvSpPr/>
          <p:nvPr/>
        </p:nvSpPr>
        <p:spPr>
          <a:xfrm>
            <a:off x="5577840" y="3575304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296912" y="3575304"/>
            <a:ext cx="1600200" cy="438912"/>
          </a:xfrm>
          <a:prstGeom prst="roundRect">
            <a:avLst>
              <a:gd name="adj" fmla="val 16667"/>
            </a:avLst>
          </a:prstGeom>
          <a:solidFill>
            <a:srgbClr val="0D7E8A"/>
          </a:solidFill>
          <a:ln/>
        </p:spPr>
      </p:sp>
      <p:sp>
        <p:nvSpPr>
          <p:cNvPr id="36" name="Text 34"/>
          <p:cNvSpPr/>
          <p:nvPr/>
        </p:nvSpPr>
        <p:spPr>
          <a:xfrm>
            <a:off x="7296912" y="3575304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577840" y="4142232"/>
            <a:ext cx="1600200" cy="438912"/>
          </a:xfrm>
          <a:prstGeom prst="roundRect">
            <a:avLst>
              <a:gd name="adj" fmla="val 16667"/>
            </a:avLst>
          </a:prstGeom>
          <a:solidFill>
            <a:srgbClr val="112244"/>
          </a:solidFill>
          <a:ln/>
        </p:spPr>
      </p:sp>
      <p:sp>
        <p:nvSpPr>
          <p:cNvPr id="38" name="Text 36"/>
          <p:cNvSpPr/>
          <p:nvPr/>
        </p:nvSpPr>
        <p:spPr>
          <a:xfrm>
            <a:off x="5577840" y="4142232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296912" y="4142232"/>
            <a:ext cx="1600200" cy="438912"/>
          </a:xfrm>
          <a:prstGeom prst="roundRect">
            <a:avLst>
              <a:gd name="adj" fmla="val 16667"/>
            </a:avLst>
          </a:prstGeom>
          <a:solidFill>
            <a:srgbClr val="1A3560"/>
          </a:solidFill>
          <a:ln/>
        </p:spPr>
      </p:sp>
      <p:sp>
        <p:nvSpPr>
          <p:cNvPr id="40" name="Text 38"/>
          <p:cNvSpPr/>
          <p:nvPr/>
        </p:nvSpPr>
        <p:spPr>
          <a:xfrm>
            <a:off x="7296912" y="4142232"/>
            <a:ext cx="1600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Failure Detection &amp; Management System  |  RJIT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0D7E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6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&amp; Project Structure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EEF4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3619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Layout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3749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heart_failure_system/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app/app.py          ← Streamlit UI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utils/train.py      ← Full training pipeline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utils/predict.py    ← Inference + care engine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utils/db.py         ← SQLite helpers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models/             ← best_model.pkl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├── data/               ← predictions.db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16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└── requirements.txt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417320"/>
            <a:ext cx="4114800" cy="749808"/>
          </a:xfrm>
          <a:prstGeom prst="roundRect">
            <a:avLst>
              <a:gd name="adj" fmla="val 12195"/>
            </a:avLst>
          </a:prstGeom>
          <a:solidFill>
            <a:srgbClr val="112244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1453896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166360" y="14813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66360" y="178308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2304288"/>
            <a:ext cx="4114800" cy="749808"/>
          </a:xfrm>
          <a:prstGeom prst="roundRect">
            <a:avLst>
              <a:gd name="adj" fmla="val 12195"/>
            </a:avLst>
          </a:prstGeom>
          <a:solidFill>
            <a:srgbClr val="0D7E8A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2340864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166360" y="236829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66360" y="26700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utils/train.py --data CAD.csv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3191256"/>
            <a:ext cx="4114800" cy="749808"/>
          </a:xfrm>
          <a:prstGeom prst="roundRect">
            <a:avLst>
              <a:gd name="adj" fmla="val 12195"/>
            </a:avLst>
          </a:prstGeom>
          <a:solidFill>
            <a:srgbClr val="C0243C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3227832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166360" y="32552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66360" y="35570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app/app.py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4078224"/>
            <a:ext cx="4114800" cy="749808"/>
          </a:xfrm>
          <a:prstGeom prst="roundRect">
            <a:avLst>
              <a:gd name="adj" fmla="val 12195"/>
            </a:avLst>
          </a:prstGeom>
          <a:solidFill>
            <a:srgbClr val="1A3560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63440" y="4114800"/>
            <a:ext cx="365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166360" y="41422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66360" y="444398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EE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 to GitHub → Deploy on Streamlit Cloud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8463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Failure Detection &amp; Management System  |  RJIT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00400"/>
            <a:ext cx="3657600" cy="3657600"/>
          </a:xfrm>
          <a:prstGeom prst="oval">
            <a:avLst/>
          </a:prstGeom>
          <a:solidFill>
            <a:srgbClr val="1A356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457200"/>
            <a:ext cx="2743200" cy="2743200"/>
          </a:xfrm>
          <a:prstGeom prst="oval">
            <a:avLst/>
          </a:prstGeom>
          <a:solidFill>
            <a:srgbClr val="0D7E8A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A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Achievements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0876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49047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95.35% Recall — minimizes missed high-risk patients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84248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196596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pipeline: ingest → SMOTE → Optuna → CatBoost → deploy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59736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8680" y="244144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transparency per patient and globally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935224"/>
            <a:ext cx="292608" cy="2926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68680" y="291693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care plan engine (EF, fluid, NYHA, comorbidities)</a:t>
            </a:r>
            <a:endParaRPr lang="en-US" sz="1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410712"/>
            <a:ext cx="292608" cy="29260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68680" y="339242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audit trail + CSV export for hospital use</a:t>
            </a:r>
            <a:endParaRPr lang="en-US" sz="1200" dirty="0"/>
          </a:p>
        </p:txBody>
      </p:sp>
      <p:sp>
        <p:nvSpPr>
          <p:cNvPr id="16" name="Text 9"/>
          <p:cNvSpPr/>
          <p:nvPr/>
        </p:nvSpPr>
        <p:spPr>
          <a:xfrm>
            <a:off x="4754880" y="10789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4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1508760"/>
            <a:ext cx="292608" cy="29260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166360" y="149047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wearable integration (ECG / smartwatch sensors)</a:t>
            </a:r>
            <a:endParaRPr lang="en-US" sz="12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1984248"/>
            <a:ext cx="292608" cy="292608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166360" y="196596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/ 1D-CNN on time-series ECG signals</a:t>
            </a:r>
            <a:endParaRPr lang="en-US" sz="12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2459736"/>
            <a:ext cx="292608" cy="292608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166360" y="244144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health app for remote self-assessment</a:t>
            </a:r>
            <a:endParaRPr lang="en-US" sz="120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880" y="2935224"/>
            <a:ext cx="292608" cy="292608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5166360" y="291693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(Electronic Health Record) system integration</a:t>
            </a:r>
            <a:endParaRPr lang="en-US" sz="1200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4880" y="3410712"/>
            <a:ext cx="292608" cy="292608"/>
          </a:xfrm>
          <a:prstGeom prst="rect">
            <a:avLst/>
          </a:prstGeom>
        </p:spPr>
      </p:pic>
      <p:sp>
        <p:nvSpPr>
          <p:cNvPr id="26" name="Text 14"/>
          <p:cNvSpPr/>
          <p:nvPr/>
        </p:nvSpPr>
        <p:spPr>
          <a:xfrm>
            <a:off x="5166360" y="339242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 for multi-hospital privacy</a:t>
            </a:r>
            <a:endParaRPr lang="en-US" sz="1200" dirty="0"/>
          </a:p>
        </p:txBody>
      </p:sp>
      <p:sp>
        <p:nvSpPr>
          <p:cNvPr id="27" name="Text 15"/>
          <p:cNvSpPr/>
          <p:nvPr/>
        </p:nvSpPr>
        <p:spPr>
          <a:xfrm>
            <a:off x="1828800" y="41605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28" name="Text 16"/>
          <p:cNvSpPr/>
          <p:nvPr/>
        </p:nvSpPr>
        <p:spPr>
          <a:xfrm>
            <a:off x="914400" y="47365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Morbar  ·  0902IT221017  ·  Supervisor: J. S. Pahariya  ·  Dept. of IT, RJIT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 Failure Detection &amp; Management System</dc:title>
  <dc:subject>PptxGenJS Presentation</dc:subject>
  <dc:creator>Ayush Morbar</dc:creator>
  <cp:lastModifiedBy>Ayush Morbar</cp:lastModifiedBy>
  <cp:revision>1</cp:revision>
  <dcterms:created xsi:type="dcterms:W3CDTF">2026-06-11T09:53:56Z</dcterms:created>
  <dcterms:modified xsi:type="dcterms:W3CDTF">2026-06-11T09:53:56Z</dcterms:modified>
</cp:coreProperties>
</file>